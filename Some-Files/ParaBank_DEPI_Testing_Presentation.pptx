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Test Cases per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G1
Auth &amp;
Customer</c:v>
                </c:pt>
                <c:pt idx="1">
                  <c:v>G2
Customer &amp;
Accounts</c:v>
                </c:pt>
                <c:pt idx="2">
                  <c:v>G3
Transactions</c:v>
                </c:pt>
                <c:pt idx="3">
                  <c:v>G4
Funds
Ops</c:v>
                </c:pt>
                <c:pt idx="4">
                  <c:v>G5
Account, Bill
&amp; Loan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19</c:v>
                </c:pt>
                <c:pt idx="2">
                  <c:v>19</c:v>
                </c:pt>
                <c:pt idx="3">
                  <c:v>18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5-48F6-AB7C-13CD3DC95B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Test Cases per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G1
Register</c:v>
                </c:pt>
                <c:pt idx="1">
                  <c:v>G2
Login &amp;
Session</c:v>
                </c:pt>
                <c:pt idx="2">
                  <c:v>G3
Account
Setup</c:v>
                </c:pt>
                <c:pt idx="3">
                  <c:v>G4
Payments &amp;
Transfers</c:v>
                </c:pt>
                <c:pt idx="4">
                  <c:v>G5
Loans &amp;
Profile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16</c:v>
                </c:pt>
                <c:pt idx="2">
                  <c:v>14</c:v>
                </c:pt>
                <c:pt idx="3">
                  <c:v>19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1-4E53-BBF2-AB8162F060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Test Cases per Person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P1
Customers &amp;
Suppliers</c:v>
                </c:pt>
                <c:pt idx="1">
                  <c:v>P2
Products &amp;
Categories</c:v>
                </c:pt>
                <c:pt idx="2">
                  <c:v>P3
Employees</c:v>
                </c:pt>
                <c:pt idx="3">
                  <c:v>P4
Orders</c:v>
                </c:pt>
                <c:pt idx="4">
                  <c:v>P5
Shipping &amp;
Integration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7-4EBC-9A26-212C5269B7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22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55680" y="521208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 ·  SOFTWARE TESTER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ParaBank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Plan &amp; Execution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·  API  ·  Automation  ·  Database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59" y="5943600"/>
            <a:ext cx="9567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ar-EG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Mohamed Fayez (Leader) | Mohamed Reda  | </a:t>
            </a:r>
            <a:r>
              <a:rPr lang="en-US" sz="1400" b="1" dirty="0">
                <a:solidFill>
                  <a:schemeClr val="bg1"/>
                </a:solidFill>
              </a:rPr>
              <a:t>Mohamed Zaghloul  | Yasmin Ahmed | Aseel Mohamed | Alaa </a:t>
            </a:r>
            <a:r>
              <a:rPr lang="en-US" sz="1400" b="1" dirty="0" err="1">
                <a:solidFill>
                  <a:schemeClr val="bg1"/>
                </a:solidFill>
              </a:rPr>
              <a:t>Elsawy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ID: TP-ParaBank-2026-G   ·   April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5112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3525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93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26700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2670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5080" y="35112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35112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Testing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5080" y="43525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43525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Risks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5080" y="51937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5193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demo online banking application used as the system under test for our DEPI graduation project. It simulates real banking workflows — registration, login, account management, fund transfers, bill payments, and loan requests.
</a:t>
            </a:r>
            <a:r>
              <a:rPr lang="en-US" sz="15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functionality, data integrity, and reliability across the full stack — from the UI down to the database — using industry-standard ISTQB methodology.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URL: parabank.parasoft.com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29400" y="160020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62940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3310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testing phases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97980" y="397764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9798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97980" y="4709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32420" y="397764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24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32420" y="4709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66860" y="397764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6686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66860" y="4709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401300" y="3977640"/>
            <a:ext cx="1097280" cy="1737360"/>
          </a:xfrm>
          <a:prstGeom prst="roundRect">
            <a:avLst>
              <a:gd name="adj" fmla="val 6667"/>
            </a:avLst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0130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401300" y="4709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functionality of all core features (registration, login, transfers, loans)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usability, performance, and cross-browser compatibility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functional defects across every user workflow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5166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fields and error handling on every form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1945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Login · Forgot Password
Account Opening · Overview · Fund Transfers
Bill Payment · Loan Requests
Profile Updates · Logout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480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 security testing
Security penetration testing
External payment gateway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— Group 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Fayez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&amp; Software Tester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4031675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4305995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430599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4991795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Elsawy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5357555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 (QC Engineer)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Mohamed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 (QC Engineer)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Ahmed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 (QC Engineer)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983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Zaghloul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349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 (QC Engineer)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0B3973AC-94B6-2988-FF25-DC4D311AC93F}"/>
              </a:ext>
            </a:extLst>
          </p:cNvPr>
          <p:cNvSpPr/>
          <p:nvPr/>
        </p:nvSpPr>
        <p:spPr>
          <a:xfrm>
            <a:off x="4389120" y="1834343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791F57DD-C0F7-A8CA-30B8-8073770F5F1F}"/>
              </a:ext>
            </a:extLst>
          </p:cNvPr>
          <p:cNvSpPr/>
          <p:nvPr/>
        </p:nvSpPr>
        <p:spPr>
          <a:xfrm>
            <a:off x="4663440" y="2108663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388CB9A6-DA7D-FF9C-BFBE-2E310CC04B77}"/>
              </a:ext>
            </a:extLst>
          </p:cNvPr>
          <p:cNvSpPr/>
          <p:nvPr/>
        </p:nvSpPr>
        <p:spPr>
          <a:xfrm>
            <a:off x="4663440" y="210866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65096E78-3E51-9382-0F8A-1E8066D2B46F}"/>
              </a:ext>
            </a:extLst>
          </p:cNvPr>
          <p:cNvSpPr/>
          <p:nvPr/>
        </p:nvSpPr>
        <p:spPr>
          <a:xfrm>
            <a:off x="4663440" y="2794463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Reda</a:t>
            </a:r>
            <a:endParaRPr lang="en-US" sz="1500" dirty="0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0E8FCB35-1825-3621-8024-5D58AD2A77F5}"/>
              </a:ext>
            </a:extLst>
          </p:cNvPr>
          <p:cNvSpPr/>
          <p:nvPr/>
        </p:nvSpPr>
        <p:spPr>
          <a:xfrm>
            <a:off x="4663440" y="3160223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 (QC Engineer)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Strategy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20240" y="18288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2024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Exploratory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92024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· Cross-browser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Functional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automation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· fastest feedback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Pyramid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21488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06440" y="24048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2569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scenarios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08152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6440" y="333756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3172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Analysis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input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401421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06440" y="427024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Partitioning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field-level coverage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494690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06440" y="520293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50383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63640" y="5367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&amp; Edge browsers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052560" y="685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2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0525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146304" cy="146304"/>
          </a:xfrm>
          <a:prstGeom prst="ellipse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Authentication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(15)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(8)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(6)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20848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82312" y="20116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— Account Management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628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340156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Opening (8)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Overview (8)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Transfer (10)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(5)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20848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85632" y="20116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— Transactions &amp; Profile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3401568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 (13)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Request (9)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Info (9)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 covered  ·  Techniques: Black-box, Boundary Value Analysis, Equivalence Partitioning  ·  Browsers: Chrome, Edge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5236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523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3268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35204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validation, status codes, error handling, field-level checks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&amp; POST endpoints — login, accounts, transactions, transfers, bill pay, loans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Testing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5236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523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3268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35204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Selenium WebDriver · TestNG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one branch per group, shared login/setup helpers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waits, independent tests, smoke/regression tags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Testing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5236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4523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COVERED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35204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Constraints (PK/FK/NOT NULL/UNIQUE)
CRUD  ·  Data Integrity  ·  Business Rules  ·  Performance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Management &amp;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SEVERITY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9514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21579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450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crash — suspends testing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950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236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 broken, workaround exists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67588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86791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partially works, no block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462272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654296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80160" y="4517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8097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Cosmetic, low impact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2943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 New → Open → In Progress → Fixed → Retest → Closed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TARGETS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1031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2103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Pass 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21031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288950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28895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Blocker/Critical Resolution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2889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09360" y="367588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122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36758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92640" y="36758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server downtime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142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after delay / use backup test window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2735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data reset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4142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test data at the start of every cycle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1248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2735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response 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1422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 across multiple attempts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trigger: a Blocker/Critical defect blocking more than 30% of planned test cases halts the sprint until resolved and verified.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Test Plan  ·  DEPI Software Tester Track  ·  Group 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5029200"/>
            <a:ext cx="2926080" cy="2926080"/>
          </a:xfrm>
          <a:prstGeom prst="ellipse">
            <a:avLst/>
          </a:prstGeom>
          <a:solidFill>
            <a:srgbClr val="0B1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Testing Lifecycle,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as a 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test cases executed across Manual, API, Automation &amp; Database phases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54787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3502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ISTQB-aligned lifecycle: planning, design, execution, closure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16966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41239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Postman, Selenium/TestNG, and MySQL Workbench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79145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47457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team collaboration — 6 testers, shared standards, one final report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623560"/>
            <a:ext cx="3657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Group G is ready.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989</Words>
  <Application>Microsoft Office PowerPoint</Application>
  <PresentationFormat>Widescreen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Reda</cp:lastModifiedBy>
  <cp:revision>3</cp:revision>
  <dcterms:created xsi:type="dcterms:W3CDTF">2026-07-10T09:31:03Z</dcterms:created>
  <dcterms:modified xsi:type="dcterms:W3CDTF">2026-07-10T09:50:06Z</dcterms:modified>
</cp:coreProperties>
</file>